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93256" y="1165157"/>
            <a:ext cx="27574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NORTHLINE FC-01 · LOGISTICS COMMAND ]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2500313" y="1422332"/>
            <a:ext cx="4143375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WarehouseIQ</a:t>
            </a:r>
            <a:r>
              <a:rPr lang="en-US" sz="43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
</a:t>
            </a:r>
            <a:r>
              <a:rPr lang="en-US" sz="43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Flow Command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1714500" y="3463993"/>
            <a:ext cx="571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fulfillment architecture replaces passive warehouse tracking with proactive operational decisions.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488494" y="4614863"/>
            <a:ext cx="216701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MANUS AI · HACKATHON SOLUTION · 2026 ]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77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LOGISTICS EXCEPTION REPORT · 01 ]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600075"/>
            <a:ext cx="8001000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Fragmented inventory visibility and priority clashes cause costly SLA breaches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971675"/>
            <a:ext cx="37861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INVENTORY BLIND SPOTS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2178844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Disconnected stock counts between available, reserved, and inbound deliveries lead to hidden stockouts during peak hours.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736056"/>
            <a:ext cx="37861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PRIORITY CLASHES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2943225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Urgent orders frequently clash with standard queues, forcing fulfillment leads to pause operations while searching for inventory.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3500438"/>
            <a:ext cx="378618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PICKING INEFFICIENCIES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3707606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Unmanaged quality-check queues and unoptimized picking routes accumulate minutes of avoidable dwell time per shift.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86313" y="1825228"/>
            <a:ext cx="1280182" cy="321469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DISRUPTION TYPE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066495" y="1825228"/>
            <a:ext cx="2506005" cy="32146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OPERATIONAL IMPACT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786313" y="2146697"/>
            <a:ext cx="1280182" cy="335756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Stockout Deficit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066495" y="2146697"/>
            <a:ext cx="2506005" cy="335756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Missed carrier cut-off (16:00)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786313" y="2482453"/>
            <a:ext cx="1280182" cy="335756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Overlap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066495" y="2482453"/>
            <a:ext cx="2506005" cy="335756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+126m duplicate travel distance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786313" y="2818209"/>
            <a:ext cx="1280182" cy="335756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Queue Stalling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066495" y="2818209"/>
            <a:ext cx="2506005" cy="335756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37m recoverable dwell time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86313" y="3153966"/>
            <a:ext cx="1280182" cy="335756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Priority Exception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066495" y="3153966"/>
            <a:ext cx="2506005" cy="335756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 breach on urgent retail orders</a:t>
            </a:r>
            <a:endParaRPr lang="en-US" sz="7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3779044"/>
            <a:ext cx="3786188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SOLUTION ARCHITECTURE · 02 ]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600075"/>
            <a:ext cx="8001000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WarehouseIQ establishes a unified control room that protects shift promises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21656"/>
            <a:ext cx="8001000" cy="21431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4279106"/>
            <a:ext cx="8001000" cy="8036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71500" y="4279106"/>
            <a:ext cx="8001000" cy="7144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8" name="Text 4"/>
          <p:cNvSpPr/>
          <p:nvPr/>
        </p:nvSpPr>
        <p:spPr>
          <a:xfrm>
            <a:off x="571500" y="4421981"/>
            <a:ext cx="23264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CONTROL ROOM VISIBILITY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1500" y="4625578"/>
            <a:ext cx="23264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Instant visibility into active orders, pick accuracy, floor capacity, and bottleneck recovery time from a single desk.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333731" y="4421981"/>
            <a:ext cx="23264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PERSISTENT OPERATIONS RAIL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333731" y="4625578"/>
            <a:ext cx="232646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Anchor shift tracking, facility location, and lead profile management across every operational module.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095963" y="4421981"/>
            <a:ext cx="23336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LIVE TELEMETRY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095963" y="4625578"/>
            <a:ext cx="233360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executive metrics directly to floor-level task execution without unnecessary tab switching or data silos.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74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FULFILLMENT LOGIC · 03 ]</a:t>
            </a:r>
            <a:endParaRPr lang="en-US" sz="600" dirty="0"/>
          </a:p>
        </p:txBody>
      </p:sp>
      <p:sp>
        <p:nvSpPr>
          <p:cNvPr id="4" name="Shape 1"/>
          <p:cNvSpPr/>
          <p:nvPr/>
        </p:nvSpPr>
        <p:spPr>
          <a:xfrm>
            <a:off x="571500" y="614363"/>
            <a:ext cx="8001000" cy="10144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21631"/>
            <a:ext cx="8001000" cy="7144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614363"/>
            <a:ext cx="8001000" cy="10144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Multi-tier prioritization and promise-date ranking safeguard urgent customer commitments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571500" y="1907381"/>
            <a:ext cx="2921794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DYNAMIC TIERING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2160984"/>
            <a:ext cx="2921794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Orders are automatically categorized into Urgent, High, and Standard tiers based on promise dates and carrier cut-offs.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2995240"/>
            <a:ext cx="2921794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SLA RISK FLAGGING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3248844"/>
            <a:ext cx="2921794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indicators highlight potential delivery failures before they impact customers, allowing for proactive intervention.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" y="4083100"/>
            <a:ext cx="2921794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CONTEXTUAL DETAIL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1500" y="4336703"/>
            <a:ext cx="2921794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 drawers provide visibility into item allocations, picking zones, and fulfillment-chain steps for every order.</a:t>
            </a:r>
            <a:endParaRPr lang="en-US" sz="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170959"/>
            <a:ext cx="2921794" cy="15716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14813" y="1907381"/>
            <a:ext cx="4357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ACTIVE PRIORITY QUEUE ]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4214813" y="2093119"/>
            <a:ext cx="1726611" cy="278606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CUSTOMER / ORDER</a:t>
            </a:r>
            <a:endParaRPr lang="en-US" sz="550" dirty="0"/>
          </a:p>
        </p:txBody>
      </p:sp>
      <p:sp>
        <p:nvSpPr>
          <p:cNvPr id="16" name="Text 12"/>
          <p:cNvSpPr/>
          <p:nvPr/>
        </p:nvSpPr>
        <p:spPr>
          <a:xfrm>
            <a:off x="5941423" y="2093119"/>
            <a:ext cx="1019491" cy="278606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PRIORITY</a:t>
            </a:r>
            <a:endParaRPr lang="en-US" sz="550" dirty="0"/>
          </a:p>
        </p:txBody>
      </p:sp>
      <p:sp>
        <p:nvSpPr>
          <p:cNvPr id="17" name="Text 13"/>
          <p:cNvSpPr/>
          <p:nvPr/>
        </p:nvSpPr>
        <p:spPr>
          <a:xfrm>
            <a:off x="6960915" y="2093119"/>
            <a:ext cx="559054" cy="278606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UNITS</a:t>
            </a:r>
            <a:endParaRPr lang="en-US" sz="550" dirty="0"/>
          </a:p>
        </p:txBody>
      </p:sp>
      <p:sp>
        <p:nvSpPr>
          <p:cNvPr id="18" name="Text 14"/>
          <p:cNvSpPr/>
          <p:nvPr/>
        </p:nvSpPr>
        <p:spPr>
          <a:xfrm>
            <a:off x="7519969" y="2093119"/>
            <a:ext cx="1052531" cy="278606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CUT-OFF</a:t>
            </a:r>
            <a:endParaRPr lang="en-US" sz="550" dirty="0"/>
          </a:p>
        </p:txBody>
      </p:sp>
      <p:sp>
        <p:nvSpPr>
          <p:cNvPr id="19" name="Text 15"/>
          <p:cNvSpPr/>
          <p:nvPr/>
        </p:nvSpPr>
        <p:spPr>
          <a:xfrm>
            <a:off x="4214813" y="2482453"/>
            <a:ext cx="5179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Nova Retail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4214813" y="2632472"/>
            <a:ext cx="3929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SO-48219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5941423" y="2541389"/>
            <a:ext cx="442913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URGENT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6960915" y="2371725"/>
            <a:ext cx="559054" cy="48577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7519969" y="2371725"/>
            <a:ext cx="1052531" cy="48577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16:00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214813" y="2968228"/>
            <a:ext cx="50720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Swell &amp; Co.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214813" y="3118247"/>
            <a:ext cx="3929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SO-48207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5941423" y="3027164"/>
            <a:ext cx="317897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HIGH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6960915" y="2857500"/>
            <a:ext cx="559054" cy="48577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7519969" y="2857500"/>
            <a:ext cx="1052531" cy="48577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16:30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214813" y="3454003"/>
            <a:ext cx="7286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Marlowe Market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4214813" y="3604022"/>
            <a:ext cx="3929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SO-48196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5941423" y="3512939"/>
            <a:ext cx="317897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HIGH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6960915" y="3343275"/>
            <a:ext cx="559054" cy="48577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7519969" y="3343275"/>
            <a:ext cx="1052531" cy="48577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Tomorrow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4214813" y="3939778"/>
            <a:ext cx="55364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Aster House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214813" y="4089797"/>
            <a:ext cx="3929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SO-48183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5941423" y="3998714"/>
            <a:ext cx="260747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STD</a:t>
            </a:r>
            <a:endParaRPr lang="en-US" sz="600" dirty="0"/>
          </a:p>
        </p:txBody>
      </p:sp>
      <p:sp>
        <p:nvSpPr>
          <p:cNvPr id="37" name="Text 33"/>
          <p:cNvSpPr/>
          <p:nvPr/>
        </p:nvSpPr>
        <p:spPr>
          <a:xfrm>
            <a:off x="6960915" y="3829050"/>
            <a:ext cx="559054" cy="48577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7519969" y="3829050"/>
            <a:ext cx="1052531" cy="485775"/>
          </a:xfrm>
          <a:prstGeom prst="rect">
            <a:avLst/>
          </a:prstGeom>
          <a:noFill/>
          <a:ln/>
        </p:spPr>
        <p:txBody>
          <a:bodyPr wrap="none" lIns="0" tIns="127508" rIns="0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Tomorrow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OPERATIONAL LOGIC · 04 ]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600075"/>
            <a:ext cx="8001000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Proactive split-allocation logic transforms inventory exceptions into guided operator resolutions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2114550"/>
            <a:ext cx="2857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01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857250" y="2114550"/>
            <a:ext cx="372842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DETECTION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7250" y="2300288"/>
            <a:ext cx="37284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Identifies stock deficits and flags SLA risks before they impact the floor rhythm.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743200"/>
            <a:ext cx="28418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02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855687" y="2743200"/>
            <a:ext cx="42592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5687" y="2928938"/>
            <a:ext cx="42592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Evaluates inbound replenishment and lower-priority reservations for potential re-allocation.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0" y="3521869"/>
            <a:ext cx="2857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03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857250" y="3521869"/>
            <a:ext cx="359542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7250" y="3707606"/>
            <a:ext cx="359542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Proposes split-allocation recommendations to protect urgent carrier cut-offs.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4150519"/>
            <a:ext cx="2857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04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857250" y="4150519"/>
            <a:ext cx="3615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7250" y="4336256"/>
            <a:ext cx="361591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Updates allocation state and logs the audit trail instantly upon lead approval.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543550" y="1821656"/>
            <a:ext cx="3028950" cy="2814638"/>
          </a:xfrm>
          <a:prstGeom prst="rect">
            <a:avLst/>
          </a:prstGeom>
          <a:solidFill>
            <a:srgbClr val="E2E8F0"/>
          </a:solidFill>
          <a:ln w="9144">
            <a:solidFill>
              <a:srgbClr val="0021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57863" y="2035969"/>
            <a:ext cx="2600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CASE STUDY: SO-48219 ]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757863" y="2257425"/>
            <a:ext cx="26003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"Nova Retail required 10 units of LUMA-200 with only 7 available. The system proposed allocating 7 immediate units, linking 3 from an inbound delivery, and shifting a lower-priority reservation."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757863" y="3040335"/>
            <a:ext cx="2600325" cy="58578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[14:32] EXCEPTION DETECTED</a:t>
            </a:r>
            <a:r>
              <a:rPr lang="en-US" sz="60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[14:33] SPLIT PROPOSED</a:t>
            </a:r>
            <a:r>
              <a:rPr lang="en-US" sz="60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[14:35] LEAD APPROVED</a:t>
            </a:r>
            <a:r>
              <a:rPr lang="en-US" sz="60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[14:35] WAVE RELEASED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FLOOR EXECUTION · 05 ]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600075"/>
            <a:ext cx="8001000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Zone-based picking sequences eliminate duplicate aisle travel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971675"/>
            <a:ext cx="37147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OPTIMIZED SEQUENCING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2178844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Floor execution routes sequence items by zone and carrier cut-off to keep warehouse walkers highly productive.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736056"/>
            <a:ext cx="37147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TRAVEL DISTANCE REDUCTION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2943225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Recommended pick waves bundle urgent allocations with nearby orders, removing 126 meters of duplicate travel per run.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3500438"/>
            <a:ext cx="1507164" cy="246459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METRIC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2078664" y="3500438"/>
            <a:ext cx="1031491" cy="246459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WAVE W-26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110154" y="3500438"/>
            <a:ext cx="1176096" cy="246459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STANDARD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71500" y="3746897"/>
            <a:ext cx="1507164" cy="292894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Travel Distance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078664" y="3746897"/>
            <a:ext cx="1031491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412m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110154" y="3746897"/>
            <a:ext cx="1176096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538m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71500" y="4039791"/>
            <a:ext cx="1507164" cy="292894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Velocity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078664" y="4039791"/>
            <a:ext cx="1031491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84 units/hr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110154" y="4039791"/>
            <a:ext cx="1176096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62 units/hr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71500" y="4332684"/>
            <a:ext cx="1507164" cy="292894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 Density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078664" y="4332684"/>
            <a:ext cx="1031491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 (A/C)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110154" y="4332684"/>
            <a:ext cx="1176096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Fragmented</a:t>
            </a:r>
            <a:endParaRPr lang="en-US" sz="7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821656"/>
            <a:ext cx="3857625" cy="28575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14875" y="4779169"/>
            <a:ext cx="385762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FIG 05.1: ISOMETRIC ROUTE MAPPING · ZONE A 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7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OUTBOUND CONTROL · 07 ]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600075"/>
            <a:ext cx="8001000" cy="1403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Integrated dispatch tracking aligns dock bay capacity and quality checks with strict carrier cut-offs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89572"/>
            <a:ext cx="342900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4747022"/>
            <a:ext cx="3429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Outbound control boards join express, priority, and ground manifests with dock assignments and loading statuses to prevent missed shipping deadlines.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4286250" y="2439591"/>
            <a:ext cx="1056103" cy="239316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MANIFEST</a:t>
            </a:r>
            <a:endParaRPr lang="en-US" sz="550" dirty="0"/>
          </a:p>
        </p:txBody>
      </p:sp>
      <p:sp>
        <p:nvSpPr>
          <p:cNvPr id="8" name="Text 4"/>
          <p:cNvSpPr/>
          <p:nvPr/>
        </p:nvSpPr>
        <p:spPr>
          <a:xfrm>
            <a:off x="5342353" y="2439591"/>
            <a:ext cx="836991" cy="239316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CARRIER</a:t>
            </a:r>
            <a:endParaRPr lang="en-US" sz="550" dirty="0"/>
          </a:p>
        </p:txBody>
      </p:sp>
      <p:sp>
        <p:nvSpPr>
          <p:cNvPr id="9" name="Text 5"/>
          <p:cNvSpPr/>
          <p:nvPr/>
        </p:nvSpPr>
        <p:spPr>
          <a:xfrm>
            <a:off x="6179344" y="2439591"/>
            <a:ext cx="536004" cy="239316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DOCK</a:t>
            </a:r>
            <a:endParaRPr lang="en-US" sz="550" dirty="0"/>
          </a:p>
        </p:txBody>
      </p:sp>
      <p:sp>
        <p:nvSpPr>
          <p:cNvPr id="10" name="Text 6"/>
          <p:cNvSpPr/>
          <p:nvPr/>
        </p:nvSpPr>
        <p:spPr>
          <a:xfrm>
            <a:off x="6715348" y="2439591"/>
            <a:ext cx="788770" cy="239316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CUT-OFF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7504119" y="2439591"/>
            <a:ext cx="1068381" cy="239316"/>
          </a:xfrm>
          <a:prstGeom prst="rect">
            <a:avLst/>
          </a:prstGeom>
          <a:noFill/>
          <a:ln/>
        </p:spPr>
        <p:txBody>
          <a:bodyPr wrap="none" lIns="0" tIns="85090" rIns="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STATUS</a:t>
            </a:r>
            <a:endParaRPr lang="en-US" sz="550" dirty="0"/>
          </a:p>
        </p:txBody>
      </p:sp>
      <p:sp>
        <p:nvSpPr>
          <p:cNvPr id="12" name="Text 8"/>
          <p:cNvSpPr/>
          <p:nvPr/>
        </p:nvSpPr>
        <p:spPr>
          <a:xfrm>
            <a:off x="4286250" y="2678906"/>
            <a:ext cx="1056103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EXP-2148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342353" y="2678906"/>
            <a:ext cx="836991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Express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6179344" y="2678906"/>
            <a:ext cx="536004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D-02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6715348" y="2678906"/>
            <a:ext cx="788770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15:30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7504119" y="2678906"/>
            <a:ext cx="1068381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LOADING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4286250" y="2971800"/>
            <a:ext cx="1056103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PRIO-602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342353" y="2971800"/>
            <a:ext cx="836991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Priority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6179344" y="2971800"/>
            <a:ext cx="536004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D-01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6715348" y="2971800"/>
            <a:ext cx="788770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16:00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7504119" y="2971800"/>
            <a:ext cx="1068381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STAGED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4286250" y="3264694"/>
            <a:ext cx="1056103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GRD-071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342353" y="3264694"/>
            <a:ext cx="836991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Ground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6179344" y="3264694"/>
            <a:ext cx="536004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D-03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6715348" y="3264694"/>
            <a:ext cx="788770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17:45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7504119" y="3264694"/>
            <a:ext cx="1068381" cy="292894"/>
          </a:xfrm>
          <a:prstGeom prst="rect">
            <a:avLst/>
          </a:prstGeom>
          <a:noFill/>
          <a:ln/>
        </p:spPr>
        <p:txBody>
          <a:bodyPr wrap="none" lIns="0" tIns="102108" rIns="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OPEN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4286250" y="3925491"/>
            <a:ext cx="1254900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QUALITY CHECKS</a:t>
            </a:r>
            <a:endParaRPr lang="en-US" sz="500" dirty="0"/>
          </a:p>
        </p:txBody>
      </p:sp>
      <p:sp>
        <p:nvSpPr>
          <p:cNvPr id="28" name="Text 24"/>
          <p:cNvSpPr/>
          <p:nvPr/>
        </p:nvSpPr>
        <p:spPr>
          <a:xfrm>
            <a:off x="4286250" y="4043363"/>
            <a:ext cx="12549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6 Pending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762606" y="3925491"/>
            <a:ext cx="1254900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DOCK CAPACITY</a:t>
            </a:r>
            <a:endParaRPr lang="en-US" sz="500" dirty="0"/>
          </a:p>
        </p:txBody>
      </p:sp>
      <p:sp>
        <p:nvSpPr>
          <p:cNvPr id="30" name="Text 26"/>
          <p:cNvSpPr/>
          <p:nvPr/>
        </p:nvSpPr>
        <p:spPr>
          <a:xfrm>
            <a:off x="5762606" y="4043363"/>
            <a:ext cx="12549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 Spaces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238963" y="3925491"/>
            <a:ext cx="1262100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CARRIER CONFIDENCE</a:t>
            </a:r>
            <a:endParaRPr lang="en-US" sz="500" dirty="0"/>
          </a:p>
        </p:txBody>
      </p:sp>
      <p:sp>
        <p:nvSpPr>
          <p:cNvPr id="32" name="Text 28"/>
          <p:cNvSpPr/>
          <p:nvPr/>
        </p:nvSpPr>
        <p:spPr>
          <a:xfrm>
            <a:off x="7238963" y="4043363"/>
            <a:ext cx="12621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92%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08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OPERATIONAL INTELLIGENCE · 08 ]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71500" y="614363"/>
            <a:ext cx="800100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Actionable operational intelligence isolates recoverable minutes and measures true throughput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1654448"/>
            <a:ext cx="8001000" cy="38540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54448"/>
            <a:ext cx="8001000" cy="7144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868760"/>
            <a:ext cx="4543425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ORDERS CLEARED PER HOUR VS. TARGET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1500" y="2179513"/>
            <a:ext cx="4543425" cy="2500313"/>
          </a:xfrm>
          <a:prstGeom prst="rect">
            <a:avLst/>
          </a:prstGeom>
          <a:solidFill>
            <a:srgbClr val="FFFFFF"/>
          </a:solidFill>
          <a:ln w="9144">
            <a:solidFill>
              <a:srgbClr val="4A556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322388"/>
            <a:ext cx="4243388" cy="22002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1500" y="5044157"/>
            <a:ext cx="2200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Accuracy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71500" y="5176317"/>
            <a:ext cx="22002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99.3% (+0.4)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914650" y="5044157"/>
            <a:ext cx="2200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 Dwell Time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2914650" y="5176317"/>
            <a:ext cx="22002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6.2m (-1.1)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836444" y="1868760"/>
            <a:ext cx="2736056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BOTTLENECK WATCH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836444" y="2286670"/>
            <a:ext cx="273605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18m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836444" y="2611710"/>
            <a:ext cx="113942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QUALITY-CHECK QUEUE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5836444" y="2776017"/>
            <a:ext cx="27360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0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orders pending; QC-01 station at peak load.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5836444" y="3118917"/>
            <a:ext cx="273605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12m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5836444" y="3443957"/>
            <a:ext cx="124301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DUPLICATE AISLE TRAVEL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5836444" y="3608263"/>
            <a:ext cx="27360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0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W-26 optimization removes 126m per run.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5836444" y="3951163"/>
            <a:ext cx="273605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07m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5836444" y="4276204"/>
            <a:ext cx="112156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ALLOCATION DECISION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5836444" y="4440510"/>
            <a:ext cx="27360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0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Priority stock exception pending lead approval.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5836444" y="4783410"/>
            <a:ext cx="273605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5836444" y="5108451"/>
            <a:ext cx="117514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ACTIVE INTERVENTIONS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5836444" y="5272757"/>
            <a:ext cx="27360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180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Required to protect today's 16:00 cut-off.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92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[ SYSTEM ARCHITECTURE · 09 ]</a:t>
            </a:r>
            <a:endParaRPr lang="en-US" sz="600" dirty="0"/>
          </a:p>
        </p:txBody>
      </p:sp>
      <p:sp>
        <p:nvSpPr>
          <p:cNvPr id="4" name="Shape 1"/>
          <p:cNvSpPr/>
          <p:nvPr/>
        </p:nvSpPr>
        <p:spPr>
          <a:xfrm>
            <a:off x="571500" y="614363"/>
            <a:ext cx="8001000" cy="14823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2089547"/>
            <a:ext cx="8001000" cy="7144"/>
          </a:xfrm>
          <a:prstGeom prst="rect">
            <a:avLst/>
          </a:prstGeom>
          <a:solidFill>
            <a:srgbClr val="002147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614363"/>
            <a:ext cx="8001000" cy="148232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214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 robust modern tech stack delivers high-performance reliability with an editorial signal-room aesthetic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571500" y="2668191"/>
            <a:ext cx="238121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CORE STACK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3066455"/>
            <a:ext cx="5357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Framework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472630" y="3064669"/>
            <a:ext cx="4800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React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71500" y="3380780"/>
            <a:ext cx="45362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Language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352582" y="3378994"/>
            <a:ext cx="6001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1500" y="3695105"/>
            <a:ext cx="32504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Styling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352582" y="3693319"/>
            <a:ext cx="6001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Tailwind 4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71500" y="4009430"/>
            <a:ext cx="4786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Primitives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412634" y="4007644"/>
            <a:ext cx="5400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shadcn/ui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71500" y="4323755"/>
            <a:ext cx="31075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A5568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Charts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472630" y="4321969"/>
            <a:ext cx="4800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214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Recharts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381338" y="2668191"/>
            <a:ext cx="2381269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DESIGN ETHOS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81338" y="2978944"/>
            <a:ext cx="2381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Signal Room Aesthetic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381338" y="3121819"/>
            <a:ext cx="23812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Warm paper surfaces and deep ink rails evoke traditional logistics ledgers.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381338" y="3600450"/>
            <a:ext cx="2381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Editorial Hierarchy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381338" y="3743325"/>
            <a:ext cx="23812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DM Serif Display headers provide authoritative clarity for shift leads.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381338" y="4221956"/>
            <a:ext cx="2381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Semantic Amber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381338" y="4364831"/>
            <a:ext cx="23812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is reserved strictly for operational exceptions and SLA risks.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91231" y="2668191"/>
            <a:ext cx="2381269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14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BRAND IDENTITY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191231" y="2978944"/>
            <a:ext cx="857250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002147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06" y="3121819"/>
            <a:ext cx="571500" cy="5715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191231" y="4050506"/>
            <a:ext cx="2381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381E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WarehouseIQ Flow Command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6191231" y="4193381"/>
            <a:ext cx="23812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fulfillment architecture for modern warehouse operations.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191231" y="4779169"/>
            <a:ext cx="2381269" cy="49291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 AUTHOR: MANUS AI ]</a:t>
            </a:r>
            <a:r>
              <a:rPr lang="en-US" sz="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
</a:t>
            </a:r>
            <a:r>
              <a:rPr lang="en-US" sz="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 LICENSE: MIT ]</a:t>
            </a:r>
            <a:r>
              <a:rPr lang="en-US" sz="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
</a:t>
            </a:r>
            <a:r>
              <a:rPr lang="en-US" sz="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 REPO: Smart-Warehouse-Operations 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2026-08-17T17:53:22Z</dcterms:created>
  <dcterms:modified xsi:type="dcterms:W3CDTF">2026-08-17T17:53:22Z</dcterms:modified>
</cp:coreProperties>
</file>